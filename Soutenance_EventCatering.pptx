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1" d="100"/>
          <a:sy n="51" d="100"/>
        </p:scale>
        <p:origin x="1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65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6858000" cy="68580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4206240"/>
            <a:ext cx="5943600" cy="59436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pic>
        <p:nvPicPr>
          <p:cNvPr id="5" name="Image 0" descr="/mnt/user-data/uploads/logo_emsi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621792"/>
            <a:ext cx="1463040" cy="722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829800" y="50292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pic>
        <p:nvPicPr>
          <p:cNvPr id="7" name="Image 1" descr="/mnt/user-data/uploads/rahal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77272" y="566928"/>
            <a:ext cx="1042416" cy="8321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STAGE D'INGÉNIEUR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 d'un module ERP de gestion événementielle sous Odoo 18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5367528" y="4041648"/>
            <a:ext cx="1463040" cy="16459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« Event Catering »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6608" y="5074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6608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Younes El Bouamrani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04208" y="5074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404208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Abdel Majid Hamid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061808" y="5074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061808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Rahal Manzeh Diafa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d'Ingénieur — Réseaux et Informatique  |  Année universitaire 2025 –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91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08760" y="1819656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9164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 et contexte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5877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508760" y="2715768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587752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objectifs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4838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08760" y="3611880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483864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architecture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37997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508760" y="4507992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379976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module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1691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0" y="1819656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69164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fonctionnalités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55080" y="258775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25877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315200" y="2715768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2587752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55080" y="348386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34838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C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315200" y="3611880"/>
            <a:ext cx="1828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3483864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conclusion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L'entreprise d'accueil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</p:sp>
      <p:pic>
        <p:nvPicPr>
          <p:cNvPr id="5" name="Image 0" descr="/mnt/user-data/uploads/rah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5880" y="23317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du Groupe Rahal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Casablanca – Maârif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4348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0" name="Text 7"/>
          <p:cNvSpPr/>
          <p:nvPr/>
        </p:nvSpPr>
        <p:spPr>
          <a:xfrm>
            <a:off x="4965192" y="174650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acteur de référence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965192" y="20299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Rahal Manzeh Diafa, filiale du Groupe Rahal, référence marocaine du traiteur haut de gamme et de l'événementiel.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2834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4" name="Text 11"/>
          <p:cNvSpPr/>
          <p:nvPr/>
        </p:nvSpPr>
        <p:spPr>
          <a:xfrm>
            <a:off x="4965192" y="279806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d'activité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65192" y="3081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événementielle premium : mariages, réceptions, séminaires et événements institutionnels.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34840" y="3886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8" name="Text 15"/>
          <p:cNvSpPr/>
          <p:nvPr/>
        </p:nvSpPr>
        <p:spPr>
          <a:xfrm>
            <a:off x="4965192" y="384962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de centralisation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965192" y="413308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des événements jusqu'ici fragmentée, portée par des outils bureautiques dispersés.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44348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22" name="Text 19"/>
          <p:cNvSpPr/>
          <p:nvPr/>
        </p:nvSpPr>
        <p:spPr>
          <a:xfrm>
            <a:off x="4965192" y="490118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enjeu de digitalisation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965192" y="51846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l'information et fiabiliser les processus grâce à un outil de gestion intégré.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et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événementielle complexe, qui exige 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329184" cy="32918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9" name="Text 7"/>
          <p:cNvSpPr/>
          <p:nvPr/>
        </p:nvSpPr>
        <p:spPr>
          <a:xfrm>
            <a:off x="1371600" y="291693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informations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329184" cy="32918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12" name="Text 10"/>
          <p:cNvSpPr/>
          <p:nvPr/>
        </p:nvSpPr>
        <p:spPr>
          <a:xfrm>
            <a:off x="1371600" y="35753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précis des prestations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288536"/>
            <a:ext cx="329184" cy="32918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15" name="Text 13"/>
          <p:cNvSpPr/>
          <p:nvPr/>
        </p:nvSpPr>
        <p:spPr>
          <a:xfrm>
            <a:off x="1371600" y="42336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coordonnée du personnel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946904"/>
            <a:ext cx="329184" cy="32918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18" name="Text 16"/>
          <p:cNvSpPr/>
          <p:nvPr/>
        </p:nvSpPr>
        <p:spPr>
          <a:xfrm>
            <a:off x="1371600" y="48920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rigoureux des budgets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17373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395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structurée sous Odoo 18 :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297180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72" dirty="0"/>
          </a:p>
        </p:txBody>
      </p:sp>
      <p:sp>
        <p:nvSpPr>
          <p:cNvPr id="24" name="Text 22"/>
          <p:cNvSpPr/>
          <p:nvPr/>
        </p:nvSpPr>
        <p:spPr>
          <a:xfrm>
            <a:off x="7132320" y="291693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 module personnalisé Odoo 18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0" y="3630168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72" dirty="0"/>
          </a:p>
        </p:txBody>
      </p:sp>
      <p:sp>
        <p:nvSpPr>
          <p:cNvPr id="27" name="Text 25"/>
          <p:cNvSpPr/>
          <p:nvPr/>
        </p:nvSpPr>
        <p:spPr>
          <a:xfrm>
            <a:off x="7132320" y="35753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gestion des événements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4288536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72" dirty="0"/>
          </a:p>
        </p:txBody>
      </p:sp>
      <p:sp>
        <p:nvSpPr>
          <p:cNvPr id="30" name="Text 28"/>
          <p:cNvSpPr/>
          <p:nvPr/>
        </p:nvSpPr>
        <p:spPr>
          <a:xfrm>
            <a:off x="7132320" y="42336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 suivi opérationnel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29400" y="4946904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72" dirty="0"/>
          </a:p>
        </p:txBody>
      </p:sp>
      <p:sp>
        <p:nvSpPr>
          <p:cNvPr id="33" name="Text 31"/>
          <p:cNvSpPr/>
          <p:nvPr/>
        </p:nvSpPr>
        <p:spPr>
          <a:xfrm>
            <a:off x="7132320" y="48920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une vision globale via un tableau de bord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modélisation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673352"/>
            <a:ext cx="4656990" cy="4837176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dg_cla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3080"/>
            <a:ext cx="4437534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6254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626254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34" dirty="0"/>
          </a:p>
        </p:txBody>
      </p:sp>
      <p:sp>
        <p:nvSpPr>
          <p:cNvPr id="8" name="Text 5"/>
          <p:cNvSpPr/>
          <p:nvPr/>
        </p:nvSpPr>
        <p:spPr>
          <a:xfrm>
            <a:off x="6156606" y="1929384"/>
            <a:ext cx="5468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Odoo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56606" y="2212848"/>
            <a:ext cx="546816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s'intègre nativement à la structure standard d'Odoo 18.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26254" y="3044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626254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34" dirty="0"/>
          </a:p>
        </p:txBody>
      </p:sp>
      <p:sp>
        <p:nvSpPr>
          <p:cNvPr id="12" name="Text 9"/>
          <p:cNvSpPr/>
          <p:nvPr/>
        </p:nvSpPr>
        <p:spPr>
          <a:xfrm>
            <a:off x="6156606" y="3008376"/>
            <a:ext cx="5468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métiers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156606" y="3291840"/>
            <a:ext cx="546816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Événement, prestation, affectation du personnel, type d'événement, tableau de bord.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26254" y="41239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626254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34" dirty="0"/>
          </a:p>
        </p:txBody>
      </p:sp>
      <p:sp>
        <p:nvSpPr>
          <p:cNvPr id="16" name="Text 13"/>
          <p:cNvSpPr/>
          <p:nvPr/>
        </p:nvSpPr>
        <p:spPr>
          <a:xfrm>
            <a:off x="6156606" y="4087368"/>
            <a:ext cx="5468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entre entités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156606" y="4370832"/>
            <a:ext cx="546816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personnel et produits reliés à chaque événement.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26254" y="52029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626254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34" dirty="0"/>
          </a:p>
        </p:txBody>
      </p:sp>
      <p:sp>
        <p:nvSpPr>
          <p:cNvPr id="20" name="Text 17"/>
          <p:cNvSpPr/>
          <p:nvPr/>
        </p:nvSpPr>
        <p:spPr>
          <a:xfrm>
            <a:off x="6156606" y="5166360"/>
            <a:ext cx="5468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gestion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156606" y="5449824"/>
            <a:ext cx="546816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de vie structuré piloté par l'état de l'événement.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et cycle de vie d'un événement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673352"/>
            <a:ext cx="4829599" cy="4197096"/>
          </a:xfrm>
          <a:prstGeom prst="roundRect">
            <a:avLst>
              <a:gd name="adj" fmla="val 174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dg_activi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3080"/>
            <a:ext cx="4610143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98863" y="1783080"/>
            <a:ext cx="584419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grandes étapes rythment la vie d'un événement 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98863" y="23957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798863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329215" y="2377440"/>
            <a:ext cx="529555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98863" y="3054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798863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329215" y="3035808"/>
            <a:ext cx="529555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98863" y="3712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798863" y="3712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6329215" y="3694176"/>
            <a:ext cx="529555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98863" y="4370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5798863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329215" y="4352544"/>
            <a:ext cx="529555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798863" y="5029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5798863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329215" y="5010912"/>
            <a:ext cx="529555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244144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51206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946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Odoo 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22783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355848"/>
            <a:ext cx="512064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558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personnalisés Event Catering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26080" y="401421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142232"/>
            <a:ext cx="51206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4223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Odoo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80060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928616"/>
            <a:ext cx="5120640" cy="658368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2861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PostgreSQL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62472" y="1673352"/>
            <a:ext cx="5690311" cy="2231136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9" name="Image 0" descr="/mnt/user-data/uploads/work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1783080"/>
            <a:ext cx="5470855" cy="2011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72200" y="3959352"/>
            <a:ext cx="5470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du code métier du workflow (Python)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72200" y="4389120"/>
            <a:ext cx="5470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47731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4773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8" dirty="0"/>
          </a:p>
        </p:txBody>
      </p:sp>
      <p:sp>
        <p:nvSpPr>
          <p:cNvPr id="24" name="Text 21"/>
          <p:cNvSpPr/>
          <p:nvPr/>
        </p:nvSpPr>
        <p:spPr>
          <a:xfrm>
            <a:off x="6629400" y="4727448"/>
            <a:ext cx="501365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r>
              <a:rPr lang="en-US" sz="13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52303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172200" y="5230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8" dirty="0"/>
          </a:p>
        </p:txBody>
      </p:sp>
      <p:sp>
        <p:nvSpPr>
          <p:cNvPr id="27" name="Text 24"/>
          <p:cNvSpPr/>
          <p:nvPr/>
        </p:nvSpPr>
        <p:spPr>
          <a:xfrm>
            <a:off x="6629400" y="5184648"/>
            <a:ext cx="501365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 </a:t>
            </a:r>
            <a:r>
              <a:rPr lang="en-US" sz="13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et interfaces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56875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172200" y="5687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8" dirty="0"/>
          </a:p>
        </p:txBody>
      </p:sp>
      <p:sp>
        <p:nvSpPr>
          <p:cNvPr id="30" name="Text 27"/>
          <p:cNvSpPr/>
          <p:nvPr/>
        </p:nvSpPr>
        <p:spPr>
          <a:xfrm>
            <a:off x="6629400" y="5641848"/>
            <a:ext cx="501365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</a:t>
            </a:r>
            <a:r>
              <a:rPr lang="en-US" sz="13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</a:t>
            </a:r>
            <a:r>
              <a:rPr lang="en-US" sz="3000" b="1" dirty="0" err="1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odoo</a:t>
            </a: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version 18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62034" y="1462422"/>
            <a:ext cx="6022668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interface_odo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1762" y="1517904"/>
            <a:ext cx="5803212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892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5074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9" name="Text 6"/>
          <p:cNvSpPr/>
          <p:nvPr/>
        </p:nvSpPr>
        <p:spPr>
          <a:xfrm>
            <a:off x="1417320" y="4892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événements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4892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5074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13" name="Text 10"/>
          <p:cNvSpPr/>
          <p:nvPr/>
        </p:nvSpPr>
        <p:spPr>
          <a:xfrm>
            <a:off x="5212080" y="4892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clients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75320" y="4892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458200" y="5074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17" name="Text 14"/>
          <p:cNvSpPr/>
          <p:nvPr/>
        </p:nvSpPr>
        <p:spPr>
          <a:xfrm>
            <a:off x="9006840" y="4892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personnel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5852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6035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6035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21" name="Text 18"/>
          <p:cNvSpPr/>
          <p:nvPr/>
        </p:nvSpPr>
        <p:spPr>
          <a:xfrm>
            <a:off x="1417320" y="5852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prestations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480560" y="5852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3" name="Shape 20"/>
          <p:cNvSpPr/>
          <p:nvPr/>
        </p:nvSpPr>
        <p:spPr>
          <a:xfrm>
            <a:off x="4663440" y="6035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4663440" y="6035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25" name="Text 22"/>
          <p:cNvSpPr/>
          <p:nvPr/>
        </p:nvSpPr>
        <p:spPr>
          <a:xfrm>
            <a:off x="5212080" y="5852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275320" y="5852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8458200" y="6035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8458200" y="6035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5" dirty="0"/>
          </a:p>
        </p:txBody>
      </p:sp>
      <p:sp>
        <p:nvSpPr>
          <p:cNvPr id="29" name="Text 26"/>
          <p:cNvSpPr/>
          <p:nvPr/>
        </p:nvSpPr>
        <p:spPr>
          <a:xfrm>
            <a:off x="9006840" y="5852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droits d'accès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du calendrier et des événements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901952"/>
            <a:ext cx="7808976" cy="3920788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vue_calend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011680"/>
            <a:ext cx="7589520" cy="37013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2103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8" name="Text 5"/>
          <p:cNvSpPr/>
          <p:nvPr/>
        </p:nvSpPr>
        <p:spPr>
          <a:xfrm>
            <a:off x="9308592" y="2066544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calendrier Odoo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08592" y="2350008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lecture claire et immédiate du planning des événements.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78240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2" name="Text 9"/>
          <p:cNvSpPr/>
          <p:nvPr/>
        </p:nvSpPr>
        <p:spPr>
          <a:xfrm>
            <a:off x="9308592" y="3145536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événements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308592" y="3429000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positionné sur sa date de début et de fin.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778240" y="4261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6" name="Text 13"/>
          <p:cNvSpPr/>
          <p:nvPr/>
        </p:nvSpPr>
        <p:spPr>
          <a:xfrm>
            <a:off x="9308592" y="4224528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dates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308592" y="4507992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Repérage instantané des périodes chargées ou disponibles.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78240" y="5340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0" y="5340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20" name="Text 17"/>
          <p:cNvSpPr/>
          <p:nvPr/>
        </p:nvSpPr>
        <p:spPr>
          <a:xfrm>
            <a:off x="9308592" y="5303520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activités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308592" y="5586984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support direct au suivi opérationnel au quotidien.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données et des vues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2221992"/>
            <a:ext cx="7808976" cy="3420911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vue_l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331720"/>
            <a:ext cx="7589520" cy="32014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8" name="Text 5"/>
          <p:cNvSpPr/>
          <p:nvPr/>
        </p:nvSpPr>
        <p:spPr>
          <a:xfrm>
            <a:off x="9308592" y="2340864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liste des événements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08592" y="2624328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panorama complet et structuré de l'ensemble des événements.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78240" y="34564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2" name="Text 9"/>
          <p:cNvSpPr/>
          <p:nvPr/>
        </p:nvSpPr>
        <p:spPr>
          <a:xfrm>
            <a:off x="9308592" y="3419856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filtres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308592" y="3703320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rapide à l'information recherchée.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778240" y="45354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16" name="Text 13"/>
          <p:cNvSpPr/>
          <p:nvPr/>
        </p:nvSpPr>
        <p:spPr>
          <a:xfrm>
            <a:off x="9308592" y="4498848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informations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308592" y="4782312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Référence, client, dates, état et responsable en un coup d'œil.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78240" y="5614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0" y="5614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34" dirty="0"/>
          </a:p>
        </p:txBody>
      </p:sp>
      <p:sp>
        <p:nvSpPr>
          <p:cNvPr id="20" name="Text 17"/>
          <p:cNvSpPr/>
          <p:nvPr/>
        </p:nvSpPr>
        <p:spPr>
          <a:xfrm>
            <a:off x="9308592" y="5577840"/>
            <a:ext cx="2316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rapide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308592" y="5861304"/>
            <a:ext cx="23161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direct à la fiche détaillée de chaque événement.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ET 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 et indicateurs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2221992"/>
            <a:ext cx="7626096" cy="386860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mnt/user-data/uploads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331720"/>
            <a:ext cx="7406640" cy="3649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1783080"/>
            <a:ext cx="3047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personnalisé, pour une aide à la décision immédiate.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95360" y="26060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9125712" y="2578608"/>
            <a:ext cx="24990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d'événements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595360" y="33192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0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125712" y="3291840"/>
            <a:ext cx="24990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confirmés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595360" y="40325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9125712" y="4005072"/>
            <a:ext cx="24990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terminés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595360" y="47457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4745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9125712" y="4718304"/>
            <a:ext cx="24990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globales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de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41A3D"/>
          </a:solidFill>
          <a:ln w="15875">
            <a:solidFill>
              <a:srgbClr val="3A43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606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démonstration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intégrer lors de la soutenance)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120640" y="16184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module Event Catering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événement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34290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120640" y="33558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informations client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42976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20640" y="422452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prestations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51663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120640" y="50932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du personnel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58200" y="16916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961120" y="16184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budget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58200" y="25603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961120" y="24871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des états du workflow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58200" y="34290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961120" y="33558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du calendrier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58200" y="42976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961120" y="422452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du dashboard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58200" y="51663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8961120" y="50932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/ consultation des rapports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et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41A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18" dirty="0"/>
          </a:p>
        </p:txBody>
      </p:sp>
      <p:sp>
        <p:nvSpPr>
          <p:cNvPr id="8" name="Text 6"/>
          <p:cNvSpPr/>
          <p:nvPr/>
        </p:nvSpPr>
        <p:spPr>
          <a:xfrm>
            <a:off x="1325880" y="2441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gestion événementielle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13639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18" dirty="0"/>
          </a:p>
        </p:txBody>
      </p:sp>
      <p:sp>
        <p:nvSpPr>
          <p:cNvPr id="11" name="Text 9"/>
          <p:cNvSpPr/>
          <p:nvPr/>
        </p:nvSpPr>
        <p:spPr>
          <a:xfrm>
            <a:off x="1325880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données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5818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18" dirty="0"/>
          </a:p>
        </p:txBody>
      </p:sp>
      <p:sp>
        <p:nvSpPr>
          <p:cNvPr id="14" name="Text 12"/>
          <p:cNvSpPr/>
          <p:nvPr/>
        </p:nvSpPr>
        <p:spPr>
          <a:xfrm>
            <a:off x="1325880" y="36850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du suivi opérationnel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18" dirty="0"/>
          </a:p>
        </p:txBody>
      </p:sp>
      <p:sp>
        <p:nvSpPr>
          <p:cNvPr id="17" name="Text 15"/>
          <p:cNvSpPr/>
          <p:nvPr/>
        </p:nvSpPr>
        <p:spPr>
          <a:xfrm>
            <a:off x="1325880" y="43068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tâches manuelles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252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65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51460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18" dirty="0"/>
          </a:p>
        </p:txBody>
      </p:sp>
      <p:sp>
        <p:nvSpPr>
          <p:cNvPr id="22" name="Text 20"/>
          <p:cNvSpPr/>
          <p:nvPr/>
        </p:nvSpPr>
        <p:spPr>
          <a:xfrm>
            <a:off x="7086600" y="2441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313639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136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18" dirty="0"/>
          </a:p>
        </p:txBody>
      </p:sp>
      <p:sp>
        <p:nvSpPr>
          <p:cNvPr id="25" name="Text 23"/>
          <p:cNvSpPr/>
          <p:nvPr/>
        </p:nvSpPr>
        <p:spPr>
          <a:xfrm>
            <a:off x="7086600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75818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18" dirty="0"/>
          </a:p>
        </p:txBody>
      </p:sp>
      <p:sp>
        <p:nvSpPr>
          <p:cNvPr id="28" name="Text 26"/>
          <p:cNvSpPr/>
          <p:nvPr/>
        </p:nvSpPr>
        <p:spPr>
          <a:xfrm>
            <a:off x="7086600" y="36850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du reporting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437997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18" dirty="0"/>
          </a:p>
        </p:txBody>
      </p:sp>
      <p:sp>
        <p:nvSpPr>
          <p:cNvPr id="31" name="Text 29"/>
          <p:cNvSpPr/>
          <p:nvPr/>
        </p:nvSpPr>
        <p:spPr>
          <a:xfrm>
            <a:off x="7086600" y="43068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67528" y="5257800"/>
            <a:ext cx="1463040" cy="16459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Catering — Odoo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773</Words>
  <Application>Microsoft Office PowerPoint</Application>
  <PresentationFormat>Grand écran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2026-07-23T09:27:51Z</dcterms:created>
  <dcterms:modified xsi:type="dcterms:W3CDTF">2026-07-23T09:34:57Z</dcterms:modified>
</cp:coreProperties>
</file>